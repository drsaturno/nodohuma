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8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4156862" y="1466850"/>
            <a:ext cx="482804" cy="270510"/>
          </a:xfrm>
          <a:prstGeom prst="line">
            <a:avLst/>
          </a:prstGeom>
          <a:noFill/>
          <a:ln w="15240">
            <a:solidFill>
              <a:srgbClr val="F0ED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20133" y="1375258"/>
            <a:ext cx="442570" cy="502920"/>
          </a:xfrm>
          <a:prstGeom prst="line">
            <a:avLst/>
          </a:prstGeom>
          <a:noFill/>
          <a:ln w="15240">
            <a:solidFill>
              <a:srgbClr val="F0ED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56862" y="1737360"/>
            <a:ext cx="1005840" cy="140818"/>
          </a:xfrm>
          <a:prstGeom prst="line">
            <a:avLst/>
          </a:prstGeom>
          <a:noFill/>
          <a:ln w="15240">
            <a:solidFill>
              <a:srgbClr val="F0E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55694" y="1636776"/>
            <a:ext cx="241402" cy="241402"/>
          </a:xfrm>
          <a:prstGeom prst="ellipse">
            <a:avLst/>
          </a:prstGeom>
          <a:solidFill>
            <a:srgbClr val="F0EDE6"/>
          </a:solidFill>
        </p:spPr>
      </p:sp>
      <p:sp>
        <p:nvSpPr>
          <p:cNvPr id="6" name="Shape 4"/>
          <p:cNvSpPr/>
          <p:nvPr/>
        </p:nvSpPr>
        <p:spPr>
          <a:xfrm>
            <a:off x="4619549" y="1274674"/>
            <a:ext cx="241402" cy="241402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7" name="Shape 5"/>
          <p:cNvSpPr/>
          <p:nvPr/>
        </p:nvSpPr>
        <p:spPr>
          <a:xfrm>
            <a:off x="5042002" y="1777594"/>
            <a:ext cx="201168" cy="201168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8" name="Text 6"/>
          <p:cNvSpPr/>
          <p:nvPr/>
        </p:nvSpPr>
        <p:spPr>
          <a:xfrm>
            <a:off x="4617720" y="141732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300" dirty="0">
                <a:solidFill>
                  <a:srgbClr val="F0EDE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NODO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617720" y="2176272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8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HUMA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0" y="2944368"/>
            <a:ext cx="1371600" cy="18288"/>
          </a:xfrm>
          <a:prstGeom prst="rect">
            <a:avLst/>
          </a:prstGeom>
          <a:solidFill>
            <a:srgbClr val="6B7A52"/>
          </a:solidFill>
          <a:ln w="12700">
            <a:solidFill>
              <a:srgbClr val="6B7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1546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F0EDE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PEOPLE OPERATIONS &amp; EXPERIENCE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35661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Donde el talento y la organización se encuentran.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430414" y="191110"/>
            <a:ext cx="175566" cy="115214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09637" y="191110"/>
            <a:ext cx="140818" cy="160020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30414" y="306324"/>
            <a:ext cx="320040" cy="44806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406" y="274320"/>
            <a:ext cx="64008" cy="64008"/>
          </a:xfrm>
          <a:prstGeom prst="ellipse">
            <a:avLst/>
          </a:prstGeom>
          <a:solidFill>
            <a:srgbClr val="4A4A45"/>
          </a:solidFill>
        </p:spPr>
      </p:sp>
      <p:sp>
        <p:nvSpPr>
          <p:cNvPr id="6" name="Shape 4"/>
          <p:cNvSpPr/>
          <p:nvPr/>
        </p:nvSpPr>
        <p:spPr>
          <a:xfrm>
            <a:off x="7577633" y="159106"/>
            <a:ext cx="64008" cy="64008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7" name="Shape 5"/>
          <p:cNvSpPr/>
          <p:nvPr/>
        </p:nvSpPr>
        <p:spPr>
          <a:xfrm>
            <a:off x="7712050" y="319126"/>
            <a:ext cx="57607" cy="57607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8" name="Text 6"/>
          <p:cNvSpPr/>
          <p:nvPr/>
        </p:nvSpPr>
        <p:spPr>
          <a:xfrm>
            <a:off x="7754112" y="1554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NODO </a:t>
            </a:r>
            <a:r>
              <a:rPr lang="en-US" sz="1100" kern="0" spc="1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HUMA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59436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NUESTRA ESENCIA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868680"/>
            <a:ext cx="4114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Potenciamos la cultura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través del diseño.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dirty="0" err="1">
                <a:sym typeface="+mn-ea"/>
              </a:rPr>
              <a:t>En</a:t>
            </a:r>
            <a:r>
              <a:rPr sz="1200" dirty="0">
                <a:sym typeface="+mn-ea"/>
              </a:rPr>
              <a:t> NODO HUMA </a:t>
            </a:r>
            <a:r>
              <a:rPr sz="1200" dirty="0" err="1">
                <a:sym typeface="+mn-ea"/>
              </a:rPr>
              <a:t>acompañamos</a:t>
            </a:r>
            <a:r>
              <a:rPr sz="1200" dirty="0">
                <a:sym typeface="+mn-ea"/>
              </a:rPr>
              <a:t> a </a:t>
            </a:r>
            <a:r>
              <a:rPr sz="1200" dirty="0" err="1">
                <a:sym typeface="+mn-ea"/>
              </a:rPr>
              <a:t>empresas</a:t>
            </a:r>
            <a:r>
              <a:rPr sz="1200" dirty="0">
                <a:sym typeface="+mn-ea"/>
              </a:rPr>
              <a:t> que </a:t>
            </a:r>
            <a:r>
              <a:rPr sz="1200" dirty="0" err="1">
                <a:sym typeface="+mn-ea"/>
              </a:rPr>
              <a:t>están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creciendo</a:t>
            </a:r>
            <a:r>
              <a:rPr sz="1200" dirty="0">
                <a:sym typeface="+mn-ea"/>
              </a:rPr>
              <a:t> y </a:t>
            </a:r>
            <a:r>
              <a:rPr sz="1200" dirty="0" err="1">
                <a:sym typeface="+mn-ea"/>
              </a:rPr>
              <a:t>necesitan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profesionalizar</a:t>
            </a:r>
            <a:r>
              <a:rPr sz="1200" dirty="0">
                <a:sym typeface="+mn-ea"/>
              </a:rPr>
              <a:t> la </a:t>
            </a:r>
            <a:r>
              <a:rPr sz="1200" dirty="0" err="1">
                <a:sym typeface="+mn-ea"/>
              </a:rPr>
              <a:t>gestión</a:t>
            </a:r>
            <a:r>
              <a:rPr sz="1200" dirty="0">
                <a:sym typeface="+mn-ea"/>
              </a:rPr>
              <a:t> de personas sin </a:t>
            </a:r>
            <a:r>
              <a:rPr sz="1200" dirty="0" err="1">
                <a:sym typeface="+mn-ea"/>
              </a:rPr>
              <a:t>perder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agilidad</a:t>
            </a:r>
            <a:r>
              <a:rPr sz="1200" dirty="0">
                <a:sym typeface="+mn-ea"/>
              </a:rPr>
              <a:t>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sz="1200" dirty="0" err="1">
                <a:sym typeface="+mn-ea"/>
              </a:rPr>
              <a:t>Combinamos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experiencia</a:t>
            </a:r>
            <a:r>
              <a:rPr sz="1200" dirty="0">
                <a:sym typeface="+mn-ea"/>
              </a:rPr>
              <a:t> real </a:t>
            </a:r>
            <a:r>
              <a:rPr sz="1200" dirty="0" err="1">
                <a:sym typeface="+mn-ea"/>
              </a:rPr>
              <a:t>en</a:t>
            </a:r>
            <a:r>
              <a:rPr sz="1200" dirty="0">
                <a:sym typeface="+mn-ea"/>
              </a:rPr>
              <a:t> People Operations con </a:t>
            </a:r>
            <a:r>
              <a:rPr sz="1200" dirty="0" err="1">
                <a:sym typeface="+mn-ea"/>
              </a:rPr>
              <a:t>una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metodología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clara</a:t>
            </a:r>
            <a:r>
              <a:rPr sz="1200" dirty="0">
                <a:sym typeface="+mn-ea"/>
              </a:rPr>
              <a:t> para </a:t>
            </a:r>
            <a:r>
              <a:rPr sz="1200" dirty="0" err="1">
                <a:sym typeface="+mn-ea"/>
              </a:rPr>
              <a:t>aportar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estructura</a:t>
            </a:r>
            <a:r>
              <a:rPr sz="1200" dirty="0">
                <a:sym typeface="+mn-ea"/>
              </a:rPr>
              <a:t>, </a:t>
            </a:r>
            <a:r>
              <a:rPr sz="1200" dirty="0" err="1">
                <a:sym typeface="+mn-ea"/>
              </a:rPr>
              <a:t>previsibilidad</a:t>
            </a:r>
            <a:r>
              <a:rPr sz="1200" dirty="0">
                <a:sym typeface="+mn-ea"/>
              </a:rPr>
              <a:t> y </a:t>
            </a:r>
            <a:r>
              <a:rPr sz="1200" dirty="0" err="1">
                <a:sym typeface="+mn-ea"/>
              </a:rPr>
              <a:t>tiempo</a:t>
            </a:r>
            <a:r>
              <a:rPr sz="1200" dirty="0">
                <a:sym typeface="+mn-ea"/>
              </a:rPr>
              <a:t> a </a:t>
            </a:r>
            <a:r>
              <a:rPr sz="1200" dirty="0" err="1">
                <a:sym typeface="+mn-ea"/>
              </a:rPr>
              <a:t>los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líderes</a:t>
            </a:r>
            <a:r>
              <a:rPr sz="1200" dirty="0">
                <a:sym typeface="+mn-ea"/>
              </a:rPr>
              <a:t>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75716" y="640080"/>
            <a:ext cx="18288" cy="3931920"/>
          </a:xfrm>
          <a:prstGeom prst="rect">
            <a:avLst/>
          </a:prstGeom>
          <a:solidFill>
            <a:srgbClr val="C8C4BC"/>
          </a:solidFill>
          <a:ln w="12700">
            <a:solidFill>
              <a:srgbClr val="C8C4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3256" y="547124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PROPUESTA DE VALOR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83256" y="1612019"/>
            <a:ext cx="3749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dirty="0" err="1">
                <a:sym typeface="+mn-ea"/>
              </a:rPr>
              <a:t>Somos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tu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área</a:t>
            </a:r>
            <a:r>
              <a:rPr sz="1200" dirty="0">
                <a:sym typeface="+mn-ea"/>
              </a:rPr>
              <a:t> de RRHH sin </a:t>
            </a:r>
            <a:r>
              <a:rPr sz="1200" dirty="0" err="1">
                <a:sym typeface="+mn-ea"/>
              </a:rPr>
              <a:t>los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costos</a:t>
            </a:r>
            <a:r>
              <a:rPr sz="1200" dirty="0">
                <a:sym typeface="+mn-ea"/>
              </a:rPr>
              <a:t> de </a:t>
            </a:r>
            <a:r>
              <a:rPr sz="1200" dirty="0" err="1">
                <a:sym typeface="+mn-ea"/>
              </a:rPr>
              <a:t>una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estructura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interna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completa</a:t>
            </a:r>
            <a:r>
              <a:rPr sz="1200" dirty="0">
                <a:sym typeface="+mn-ea"/>
              </a:rPr>
              <a:t>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sz="1200" dirty="0" err="1">
                <a:sym typeface="+mn-ea"/>
              </a:rPr>
              <a:t>Trabajamos</a:t>
            </a:r>
            <a:r>
              <a:rPr sz="1200" dirty="0">
                <a:sym typeface="+mn-ea"/>
              </a:rPr>
              <a:t> de </a:t>
            </a:r>
            <a:r>
              <a:rPr sz="1200" dirty="0" err="1">
                <a:sym typeface="+mn-ea"/>
              </a:rPr>
              <a:t>manera</a:t>
            </a:r>
            <a:r>
              <a:rPr sz="1200" dirty="0">
                <a:sym typeface="+mn-ea"/>
              </a:rPr>
              <a:t> flexible, </a:t>
            </a:r>
            <a:r>
              <a:rPr sz="1200" dirty="0" err="1">
                <a:sym typeface="+mn-ea"/>
              </a:rPr>
              <a:t>adaptándonos</a:t>
            </a:r>
            <a:r>
              <a:rPr sz="1200" dirty="0">
                <a:sym typeface="+mn-ea"/>
              </a:rPr>
              <a:t> a la </a:t>
            </a:r>
            <a:r>
              <a:rPr sz="1200" dirty="0" err="1">
                <a:sym typeface="+mn-ea"/>
              </a:rPr>
              <a:t>etapa</a:t>
            </a:r>
            <a:r>
              <a:rPr sz="1200" dirty="0">
                <a:sym typeface="+mn-ea"/>
              </a:rPr>
              <a:t> de </a:t>
            </a:r>
            <a:r>
              <a:rPr sz="1200" dirty="0" err="1">
                <a:sym typeface="+mn-ea"/>
              </a:rPr>
              <a:t>cada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organización</a:t>
            </a:r>
            <a:r>
              <a:rPr sz="1200" dirty="0">
                <a:sym typeface="+mn-ea"/>
              </a:rPr>
              <a:t> y </a:t>
            </a:r>
            <a:r>
              <a:rPr sz="1200" dirty="0" err="1">
                <a:sym typeface="+mn-ea"/>
              </a:rPr>
              <a:t>ayudando</a:t>
            </a:r>
            <a:r>
              <a:rPr sz="1200" dirty="0">
                <a:sym typeface="+mn-ea"/>
              </a:rPr>
              <a:t> a </a:t>
            </a:r>
            <a:r>
              <a:rPr sz="1200" dirty="0" err="1">
                <a:sym typeface="+mn-ea"/>
              </a:rPr>
              <a:t>transformar</a:t>
            </a:r>
            <a:r>
              <a:rPr sz="1200" dirty="0">
                <a:sym typeface="+mn-ea"/>
              </a:rPr>
              <a:t> la </a:t>
            </a:r>
            <a:r>
              <a:rPr sz="1200" dirty="0" err="1">
                <a:sym typeface="+mn-ea"/>
              </a:rPr>
              <a:t>gestión</a:t>
            </a:r>
            <a:r>
              <a:rPr sz="1200" dirty="0">
                <a:sym typeface="+mn-ea"/>
              </a:rPr>
              <a:t> de personas </a:t>
            </a:r>
            <a:r>
              <a:rPr sz="1200" dirty="0" err="1">
                <a:sym typeface="+mn-ea"/>
              </a:rPr>
              <a:t>en</a:t>
            </a:r>
            <a:r>
              <a:rPr sz="1200" dirty="0">
                <a:sym typeface="+mn-ea"/>
              </a:rPr>
              <a:t> un </a:t>
            </a:r>
            <a:r>
              <a:rPr sz="1200" dirty="0" err="1">
                <a:sym typeface="+mn-ea"/>
              </a:rPr>
              <a:t>soporte</a:t>
            </a:r>
            <a:r>
              <a:rPr sz="1200" dirty="0">
                <a:sym typeface="+mn-ea"/>
              </a:rPr>
              <a:t> real para el </a:t>
            </a:r>
            <a:r>
              <a:rPr sz="1200" dirty="0" err="1">
                <a:sym typeface="+mn-ea"/>
              </a:rPr>
              <a:t>negocio</a:t>
            </a:r>
            <a:r>
              <a:rPr sz="1200" dirty="0">
                <a:sym typeface="+mn-ea"/>
              </a:rPr>
              <a:t>.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7823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PERSONAS  |  PROCESOS  |  ESTRUCTURA  |  CULTURA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430414" y="191110"/>
            <a:ext cx="175566" cy="115214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09637" y="191110"/>
            <a:ext cx="140818" cy="160020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30414" y="306324"/>
            <a:ext cx="320040" cy="44806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406" y="274320"/>
            <a:ext cx="64008" cy="64008"/>
          </a:xfrm>
          <a:prstGeom prst="ellipse">
            <a:avLst/>
          </a:prstGeom>
          <a:solidFill>
            <a:srgbClr val="4A4A45"/>
          </a:solidFill>
        </p:spPr>
      </p:sp>
      <p:sp>
        <p:nvSpPr>
          <p:cNvPr id="6" name="Shape 4"/>
          <p:cNvSpPr/>
          <p:nvPr/>
        </p:nvSpPr>
        <p:spPr>
          <a:xfrm>
            <a:off x="7577633" y="159106"/>
            <a:ext cx="64008" cy="64008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7" name="Shape 5"/>
          <p:cNvSpPr/>
          <p:nvPr/>
        </p:nvSpPr>
        <p:spPr>
          <a:xfrm>
            <a:off x="7712050" y="319126"/>
            <a:ext cx="57607" cy="57607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8" name="Text 6"/>
          <p:cNvSpPr/>
          <p:nvPr/>
        </p:nvSpPr>
        <p:spPr>
          <a:xfrm>
            <a:off x="7754112" y="1554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kern="0" spc="100" dirty="0">
                <a:solidFill>
                  <a:srgbClr val="4A4A45"/>
                </a:solidFill>
                <a:latin typeface="Trebuchet MS" panose="020B0603020202020204" pitchFamily="34" charset="0"/>
              </a:rPr>
              <a:t>NODO </a:t>
            </a:r>
            <a:r>
              <a:rPr lang="es-AR" sz="1100" kern="0" spc="100" dirty="0">
                <a:solidFill>
                  <a:srgbClr val="8A9A6A"/>
                </a:solidFill>
                <a:latin typeface="Trebuchet MS" panose="020B0603020202020204" pitchFamily="34" charset="0"/>
              </a:rPr>
              <a:t>HUMA</a:t>
            </a:r>
          </a:p>
        </p:txBody>
      </p:sp>
      <p:sp>
        <p:nvSpPr>
          <p:cNvPr id="9" name="Text 7"/>
          <p:cNvSpPr/>
          <p:nvPr/>
        </p:nvSpPr>
        <p:spPr>
          <a:xfrm>
            <a:off x="502920" y="59436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kern="0" spc="400" dirty="0">
                <a:solidFill>
                  <a:srgbClr val="8A9A6A"/>
                </a:solidFill>
                <a:latin typeface="Trebuchet MS" panose="020B0603020202020204" pitchFamily="34" charset="0"/>
              </a:rPr>
              <a:t>QUIÉNES SOMOS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86868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2800" dirty="0">
                <a:solidFill>
                  <a:srgbClr val="4A4A45"/>
                </a:solidFill>
                <a:latin typeface="Trebuchet MS" panose="020B0603020202020204" pitchFamily="34" charset="0"/>
              </a:rPr>
              <a:t>La persona detrás</a:t>
            </a:r>
          </a:p>
          <a:p>
            <a:pPr marL="0" indent="0">
              <a:buNone/>
            </a:pPr>
            <a:r>
              <a:rPr lang="es-AR" sz="2800" dirty="0">
                <a:solidFill>
                  <a:srgbClr val="4A4A45"/>
                </a:solidFill>
                <a:latin typeface="Trebuchet MS" panose="020B0603020202020204" pitchFamily="34" charset="0"/>
              </a:rPr>
              <a:t>del proceso.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00" dirty="0">
                <a:sym typeface="+mn-ea"/>
              </a:rPr>
              <a:t>Soy </a:t>
            </a:r>
            <a:r>
              <a:rPr sz="1200" dirty="0" err="1">
                <a:sym typeface="+mn-ea"/>
              </a:rPr>
              <a:t>Sofía</a:t>
            </a:r>
            <a:r>
              <a:rPr sz="1200" dirty="0">
                <a:sym typeface="+mn-ea"/>
              </a:rPr>
              <a:t> Ibarborde, </a:t>
            </a:r>
            <a:r>
              <a:rPr sz="1200" dirty="0" err="1">
                <a:sym typeface="+mn-ea"/>
              </a:rPr>
              <a:t>profesional</a:t>
            </a:r>
            <a:r>
              <a:rPr sz="1200" dirty="0">
                <a:sym typeface="+mn-ea"/>
              </a:rPr>
              <a:t> de </a:t>
            </a:r>
            <a:r>
              <a:rPr sz="1200" dirty="0" err="1">
                <a:sym typeface="+mn-ea"/>
              </a:rPr>
              <a:t>Recursos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Humanos</a:t>
            </a:r>
            <a:r>
              <a:rPr sz="1200" dirty="0">
                <a:sym typeface="+mn-ea"/>
              </a:rPr>
              <a:t> y People Operations con </a:t>
            </a:r>
            <a:r>
              <a:rPr sz="1200" dirty="0" err="1">
                <a:sym typeface="+mn-ea"/>
              </a:rPr>
              <a:t>más</a:t>
            </a:r>
            <a:r>
              <a:rPr sz="1200" dirty="0">
                <a:sym typeface="+mn-ea"/>
              </a:rPr>
              <a:t> de 8 </a:t>
            </a:r>
            <a:r>
              <a:rPr sz="1200" dirty="0" err="1">
                <a:sym typeface="+mn-ea"/>
              </a:rPr>
              <a:t>años</a:t>
            </a:r>
            <a:r>
              <a:rPr sz="1200" dirty="0">
                <a:sym typeface="+mn-ea"/>
              </a:rPr>
              <a:t> de </a:t>
            </a:r>
            <a:r>
              <a:rPr sz="1200" dirty="0" err="1">
                <a:sym typeface="+mn-ea"/>
              </a:rPr>
              <a:t>experiencia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acompañando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organizaciones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en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crecimiento</a:t>
            </a:r>
            <a:r>
              <a:rPr sz="1200" dirty="0">
                <a:sym typeface="+mn-ea"/>
              </a:rPr>
              <a:t>.</a:t>
            </a:r>
          </a:p>
          <a:p>
            <a:pPr marL="0" indent="0">
              <a:buNone/>
            </a:pPr>
            <a:endParaRPr lang="es-AR" sz="1200" dirty="0">
              <a:solidFill>
                <a:srgbClr val="4A4A45"/>
              </a:solidFill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sz="1200" dirty="0">
                <a:sym typeface="+mn-ea"/>
              </a:rPr>
              <a:t>A lo largo de mi </a:t>
            </a:r>
            <a:r>
              <a:rPr sz="1200" dirty="0" err="1">
                <a:sym typeface="+mn-ea"/>
              </a:rPr>
              <a:t>carrera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trabajé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construyendo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procesos</a:t>
            </a:r>
            <a:r>
              <a:rPr sz="1200" dirty="0">
                <a:sym typeface="+mn-ea"/>
              </a:rPr>
              <a:t>, </a:t>
            </a:r>
            <a:r>
              <a:rPr sz="1200" dirty="0" err="1">
                <a:sym typeface="+mn-ea"/>
              </a:rPr>
              <a:t>ordenando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estructuras</a:t>
            </a:r>
            <a:r>
              <a:rPr sz="1200" dirty="0">
                <a:sym typeface="+mn-ea"/>
              </a:rPr>
              <a:t> y </a:t>
            </a:r>
            <a:r>
              <a:rPr sz="1200" dirty="0" err="1">
                <a:sym typeface="+mn-ea"/>
              </a:rPr>
              <a:t>acompañando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líderes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en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contextos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donde</a:t>
            </a:r>
            <a:r>
              <a:rPr sz="1200" dirty="0">
                <a:sym typeface="+mn-ea"/>
              </a:rPr>
              <a:t> el </a:t>
            </a:r>
            <a:r>
              <a:rPr sz="1200" dirty="0" err="1">
                <a:sym typeface="+mn-ea"/>
              </a:rPr>
              <a:t>crecimiento</a:t>
            </a:r>
            <a:r>
              <a:rPr sz="1200" dirty="0">
                <a:sym typeface="+mn-ea"/>
              </a:rPr>
              <a:t> </a:t>
            </a:r>
            <a:r>
              <a:rPr sz="1200" dirty="0" err="1">
                <a:sym typeface="+mn-ea"/>
              </a:rPr>
              <a:t>exigía</a:t>
            </a:r>
            <a:r>
              <a:rPr sz="1200" dirty="0">
                <a:sym typeface="+mn-ea"/>
              </a:rPr>
              <a:t> mayor </a:t>
            </a:r>
            <a:r>
              <a:rPr sz="1200" dirty="0" err="1">
                <a:sym typeface="+mn-ea"/>
              </a:rPr>
              <a:t>organización</a:t>
            </a:r>
            <a:r>
              <a:rPr sz="1200" dirty="0">
                <a:sym typeface="+mn-ea"/>
              </a:rPr>
              <a:t> y </a:t>
            </a:r>
            <a:r>
              <a:rPr sz="1200" dirty="0" err="1">
                <a:sym typeface="+mn-ea"/>
              </a:rPr>
              <a:t>previsibilidad</a:t>
            </a:r>
            <a:r>
              <a:rPr sz="1200" dirty="0">
                <a:sym typeface="+mn-ea"/>
              </a:rPr>
              <a:t>.</a:t>
            </a:r>
            <a:endParaRPr lang="es-AR" sz="1200" dirty="0">
              <a:solidFill>
                <a:srgbClr val="4A4A45"/>
              </a:solidFill>
              <a:latin typeface="Trebuchet MS" panose="020B0603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69653" y="640080"/>
            <a:ext cx="18288" cy="3931920"/>
          </a:xfrm>
          <a:prstGeom prst="rect">
            <a:avLst/>
          </a:prstGeom>
          <a:solidFill>
            <a:srgbClr val="C8C4BC"/>
          </a:solidFill>
          <a:ln w="12700">
            <a:solidFill>
              <a:srgbClr val="C8C4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2137" y="547124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kern="0" spc="300" dirty="0">
                <a:solidFill>
                  <a:srgbClr val="8A9A6A"/>
                </a:solidFill>
                <a:latin typeface="Trebuchet MS" panose="020B0603020202020204" pitchFamily="34" charset="0"/>
              </a:rPr>
              <a:t>MI TRAYECTORIA</a:t>
            </a:r>
          </a:p>
        </p:txBody>
      </p:sp>
      <p:sp>
        <p:nvSpPr>
          <p:cNvPr id="14" name="Text 12"/>
          <p:cNvSpPr/>
          <p:nvPr/>
        </p:nvSpPr>
        <p:spPr>
          <a:xfrm>
            <a:off x="4762136" y="840960"/>
            <a:ext cx="3951913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000" b="1" dirty="0">
                <a:solidFill>
                  <a:srgbClr val="4A4A45"/>
                </a:solidFill>
                <a:latin typeface="Trebuchet MS" panose="020B0603020202020204" pitchFamily="34" charset="0"/>
              </a:rPr>
              <a:t>Asociación Cooperadora </a:t>
            </a:r>
            <a:r>
              <a:rPr lang="es-AR" sz="1000" b="1" dirty="0" smtClean="0">
                <a:solidFill>
                  <a:srgbClr val="4A4A45"/>
                </a:solidFill>
                <a:latin typeface="Trebuchet MS" panose="020B0603020202020204" pitchFamily="34" charset="0"/>
              </a:rPr>
              <a:t>HNRG </a:t>
            </a:r>
            <a:r>
              <a:rPr lang="es-AR" sz="1000" dirty="0" smtClean="0">
                <a:solidFill>
                  <a:srgbClr val="6E6E68"/>
                </a:solidFill>
                <a:latin typeface="Trebuchet MS" panose="020B0603020202020204" pitchFamily="34" charset="0"/>
              </a:rPr>
              <a:t>Responsable de RRHH y administración </a:t>
            </a:r>
            <a:r>
              <a:rPr lang="es-AR" sz="1000" dirty="0">
                <a:solidFill>
                  <a:srgbClr val="6E6E68"/>
                </a:solidFill>
                <a:latin typeface="Trebuchet MS" panose="020B0603020202020204" pitchFamily="34" charset="0"/>
              </a:rPr>
              <a:t>— </a:t>
            </a:r>
            <a:r>
              <a:rPr lang="es-AR" sz="1000" dirty="0" smtClean="0">
                <a:solidFill>
                  <a:srgbClr val="6E6E68"/>
                </a:solidFill>
                <a:latin typeface="Trebuchet MS" panose="020B0603020202020204" pitchFamily="34" charset="0"/>
              </a:rPr>
              <a:t>2025-2026 </a:t>
            </a:r>
          </a:p>
          <a:p>
            <a:pPr marL="0" indent="0">
              <a:buNone/>
            </a:pPr>
            <a:r>
              <a:rPr lang="es-MX" sz="1000" dirty="0" smtClean="0"/>
              <a:t>Estructuración </a:t>
            </a:r>
            <a:r>
              <a:rPr lang="es-MX" sz="1000" dirty="0"/>
              <a:t>del área de RRHH de la cooperadora · Gestión de voluntarios y coordinación de equipo · Implementación de Tango para administración de recursos · </a:t>
            </a:r>
            <a:r>
              <a:rPr lang="es-MX" sz="1000" dirty="0" err="1"/>
              <a:t>People</a:t>
            </a:r>
            <a:r>
              <a:rPr lang="es-MX" sz="1000" dirty="0"/>
              <a:t> </a:t>
            </a:r>
            <a:r>
              <a:rPr lang="es-MX" sz="1000" dirty="0" err="1"/>
              <a:t>Analytics</a:t>
            </a:r>
            <a:r>
              <a:rPr lang="es-MX" sz="1000" dirty="0"/>
              <a:t> con IA para toma de decisiones basada en </a:t>
            </a:r>
            <a:r>
              <a:rPr lang="es-MX" sz="1000" dirty="0" smtClean="0"/>
              <a:t>datos</a:t>
            </a:r>
          </a:p>
          <a:p>
            <a:pPr marL="0" indent="0">
              <a:buNone/>
            </a:pPr>
            <a:endParaRPr lang="es-MX" sz="1000" dirty="0"/>
          </a:p>
          <a:p>
            <a:r>
              <a:rPr lang="es-MX" sz="1000" b="1" dirty="0" err="1">
                <a:solidFill>
                  <a:srgbClr val="4A4A45"/>
                </a:solidFill>
                <a:latin typeface="Trebuchet MS" panose="020B0603020202020204" pitchFamily="34" charset="0"/>
              </a:rPr>
              <a:t>Ensemble</a:t>
            </a:r>
            <a:r>
              <a:rPr lang="es-MX" sz="1000" b="1" dirty="0">
                <a:solidFill>
                  <a:srgbClr val="4A4A45"/>
                </a:solidFill>
                <a:latin typeface="Trebuchet MS" panose="020B0603020202020204" pitchFamily="34" charset="0"/>
              </a:rPr>
              <a:t> Business </a:t>
            </a:r>
            <a:r>
              <a:rPr lang="es-MX" sz="1000" b="1" dirty="0" err="1">
                <a:solidFill>
                  <a:srgbClr val="4A4A45"/>
                </a:solidFill>
                <a:latin typeface="Trebuchet MS" panose="020B0603020202020204" pitchFamily="34" charset="0"/>
              </a:rPr>
              <a:t>Group</a:t>
            </a:r>
            <a:r>
              <a:rPr lang="es-MX" sz="1000" b="1" dirty="0">
                <a:solidFill>
                  <a:srgbClr val="4A4A45"/>
                </a:solidFill>
                <a:latin typeface="Trebuchet MS" panose="020B0603020202020204" pitchFamily="34" charset="0"/>
              </a:rPr>
              <a:t> </a:t>
            </a:r>
            <a:r>
              <a:rPr lang="es-MX" sz="1000" dirty="0">
                <a:solidFill>
                  <a:srgbClr val="6E6E68"/>
                </a:solidFill>
                <a:latin typeface="Trebuchet MS" panose="020B0603020202020204" pitchFamily="34" charset="0"/>
              </a:rPr>
              <a:t>Responsable Global de RRHH — 2024–2025</a:t>
            </a:r>
            <a:r>
              <a:rPr lang="es-MX" sz="1000" dirty="0"/>
              <a:t> </a:t>
            </a:r>
          </a:p>
          <a:p>
            <a:r>
              <a:rPr lang="es-MX" sz="1000" dirty="0" smtClean="0"/>
              <a:t>Implementación </a:t>
            </a:r>
            <a:r>
              <a:rPr lang="es-MX" sz="1000" dirty="0"/>
              <a:t>de HRIS con 90% de mejora en eficiencia administrativa · Diseño de programas de </a:t>
            </a:r>
            <a:r>
              <a:rPr lang="es-MX" sz="1000" dirty="0" err="1"/>
              <a:t>onboarding</a:t>
            </a:r>
            <a:r>
              <a:rPr lang="es-MX" sz="1000" dirty="0"/>
              <a:t> y capacitación con hasta 60% de mejora en competencias del equipo · Crecimiento sostenido del equipo con rotación del 0</a:t>
            </a:r>
            <a:r>
              <a:rPr lang="es-MX" sz="1000" dirty="0" smtClean="0"/>
              <a:t>%</a:t>
            </a:r>
          </a:p>
          <a:p>
            <a:endParaRPr lang="es-MX" sz="1000" dirty="0"/>
          </a:p>
          <a:p>
            <a:r>
              <a:rPr lang="es-MX" sz="1000" b="1" dirty="0" err="1">
                <a:solidFill>
                  <a:srgbClr val="4A4A45"/>
                </a:solidFill>
                <a:latin typeface="Trebuchet MS" panose="020B0603020202020204" pitchFamily="34" charset="0"/>
              </a:rPr>
              <a:t>Ojam</a:t>
            </a:r>
            <a:r>
              <a:rPr lang="es-MX" sz="1000" b="1" dirty="0">
                <a:solidFill>
                  <a:srgbClr val="4A4A45"/>
                </a:solidFill>
                <a:latin typeface="Trebuchet MS" panose="020B0603020202020204" pitchFamily="34" charset="0"/>
              </a:rPr>
              <a:t> </a:t>
            </a:r>
            <a:r>
              <a:rPr lang="es-MX" sz="1000" b="1" dirty="0" err="1">
                <a:solidFill>
                  <a:srgbClr val="4A4A45"/>
                </a:solidFill>
                <a:latin typeface="Trebuchet MS" panose="020B0603020202020204" pitchFamily="34" charset="0"/>
              </a:rPr>
              <a:t>Bullrich</a:t>
            </a:r>
            <a:r>
              <a:rPr lang="es-MX" sz="1000" b="1" dirty="0">
                <a:solidFill>
                  <a:srgbClr val="4A4A45"/>
                </a:solidFill>
                <a:latin typeface="Trebuchet MS" panose="020B0603020202020204" pitchFamily="34" charset="0"/>
              </a:rPr>
              <a:t> </a:t>
            </a:r>
            <a:r>
              <a:rPr lang="es-MX" sz="1000" b="1" dirty="0" err="1">
                <a:solidFill>
                  <a:srgbClr val="4A4A45"/>
                </a:solidFill>
                <a:latin typeface="Trebuchet MS" panose="020B0603020202020204" pitchFamily="34" charset="0"/>
              </a:rPr>
              <a:t>Flanzbaum</a:t>
            </a:r>
            <a:r>
              <a:rPr lang="es-MX" sz="1000" b="1" dirty="0">
                <a:solidFill>
                  <a:srgbClr val="4A4A45"/>
                </a:solidFill>
                <a:latin typeface="Trebuchet MS" panose="020B0603020202020204" pitchFamily="34" charset="0"/>
              </a:rPr>
              <a:t> </a:t>
            </a:r>
            <a:r>
              <a:rPr lang="es-MX" sz="1000" dirty="0">
                <a:solidFill>
                  <a:srgbClr val="6E6E68"/>
                </a:solidFill>
                <a:latin typeface="Trebuchet MS" panose="020B0603020202020204" pitchFamily="34" charset="0"/>
              </a:rPr>
              <a:t>Responsable de RRHH y OPS — 2021–2024 </a:t>
            </a:r>
            <a:endParaRPr lang="es-MX" sz="1000" dirty="0"/>
          </a:p>
          <a:p>
            <a:r>
              <a:rPr lang="es-MX" sz="1000" dirty="0" smtClean="0"/>
              <a:t>Great </a:t>
            </a:r>
            <a:r>
              <a:rPr lang="es-MX" sz="1000" dirty="0"/>
              <a:t>Place to </a:t>
            </a:r>
            <a:r>
              <a:rPr lang="es-MX" sz="1000" dirty="0" err="1"/>
              <a:t>Work</a:t>
            </a:r>
            <a:r>
              <a:rPr lang="es-MX" sz="1000" dirty="0"/>
              <a:t> (2021–2023) &amp; B </a:t>
            </a:r>
            <a:r>
              <a:rPr lang="es-MX" sz="1000" dirty="0" err="1"/>
              <a:t>Corp</a:t>
            </a:r>
            <a:r>
              <a:rPr lang="es-MX" sz="1000" dirty="0"/>
              <a:t> (2023) · Rotación del 6% con crecimiento sostenido del equipo durante 3 años consecutivos · Programas de cultura y bienestar alineados a estándares internacionales de </a:t>
            </a:r>
            <a:r>
              <a:rPr lang="es-MX" sz="1000" dirty="0" smtClean="0"/>
              <a:t>certificación</a:t>
            </a:r>
          </a:p>
          <a:p>
            <a:endParaRPr lang="es-MX" sz="1000" dirty="0"/>
          </a:p>
          <a:p>
            <a:r>
              <a:rPr lang="es-MX" sz="1000" b="1" dirty="0" err="1">
                <a:solidFill>
                  <a:srgbClr val="4A4A45"/>
                </a:solidFill>
                <a:latin typeface="Trebuchet MS" panose="020B0603020202020204" pitchFamily="34" charset="0"/>
              </a:rPr>
              <a:t>Berton</a:t>
            </a:r>
            <a:r>
              <a:rPr lang="es-MX" sz="1000" b="1" dirty="0">
                <a:solidFill>
                  <a:srgbClr val="4A4A45"/>
                </a:solidFill>
                <a:latin typeface="Trebuchet MS" panose="020B0603020202020204" pitchFamily="34" charset="0"/>
              </a:rPr>
              <a:t> Moreno IP </a:t>
            </a:r>
            <a:r>
              <a:rPr lang="es-MX" sz="1000" dirty="0">
                <a:solidFill>
                  <a:srgbClr val="6E6E68"/>
                </a:solidFill>
                <a:latin typeface="Trebuchet MS" panose="020B0603020202020204" pitchFamily="34" charset="0"/>
              </a:rPr>
              <a:t>Responsable de RRHH y OPS — 2018–2021 </a:t>
            </a:r>
            <a:endParaRPr lang="es-MX" sz="1000" dirty="0"/>
          </a:p>
          <a:p>
            <a:r>
              <a:rPr lang="es-MX" sz="1000" dirty="0" smtClean="0"/>
              <a:t>Great </a:t>
            </a:r>
            <a:r>
              <a:rPr lang="es-MX" sz="1000" dirty="0"/>
              <a:t>Place to </a:t>
            </a:r>
            <a:r>
              <a:rPr lang="es-MX" sz="1000" dirty="0" err="1"/>
              <a:t>Work</a:t>
            </a:r>
            <a:r>
              <a:rPr lang="es-MX" sz="1000" dirty="0"/>
              <a:t> (2020–2021) · Crecimiento del equipo del 50% con rotación del 5% · Creación de procesos de RRHH estructurados con reducción de costos operativos del 20–30% · Implementación de sistema de gestión con 95% de eficiencia · Reducción de deuda organizacional en 85% en 2 años</a:t>
            </a:r>
          </a:p>
          <a:p>
            <a:pPr marL="0" indent="0">
              <a:buNone/>
            </a:pPr>
            <a:endParaRPr lang="es-MX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7823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kern="0" spc="300" dirty="0">
                <a:solidFill>
                  <a:srgbClr val="8A9A6A"/>
                </a:solidFill>
                <a:latin typeface="Trebuchet MS" panose="020B0603020202020204" pitchFamily="34" charset="0"/>
              </a:rPr>
              <a:t>PERSONAS  |  PROCESOS  |  ESTRUCTURA  |  CULTURA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430413" y="191110"/>
            <a:ext cx="179223" cy="115214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09637" y="191110"/>
            <a:ext cx="140818" cy="160020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30414" y="306324"/>
            <a:ext cx="320040" cy="44806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406" y="274320"/>
            <a:ext cx="64008" cy="64008"/>
          </a:xfrm>
          <a:prstGeom prst="ellipse">
            <a:avLst/>
          </a:prstGeom>
          <a:solidFill>
            <a:srgbClr val="4A4A45"/>
          </a:solidFill>
        </p:spPr>
      </p:sp>
      <p:sp>
        <p:nvSpPr>
          <p:cNvPr id="6" name="Shape 4"/>
          <p:cNvSpPr/>
          <p:nvPr/>
        </p:nvSpPr>
        <p:spPr>
          <a:xfrm>
            <a:off x="7577633" y="159106"/>
            <a:ext cx="64008" cy="64008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7" name="Shape 5"/>
          <p:cNvSpPr/>
          <p:nvPr/>
        </p:nvSpPr>
        <p:spPr>
          <a:xfrm>
            <a:off x="7712050" y="319126"/>
            <a:ext cx="57607" cy="57607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8" name="Text 6"/>
          <p:cNvSpPr/>
          <p:nvPr/>
        </p:nvSpPr>
        <p:spPr>
          <a:xfrm>
            <a:off x="7754112" y="1554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NODO </a:t>
            </a:r>
            <a:r>
              <a:rPr lang="en-US" sz="1100" kern="0" spc="1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HUMA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530352"/>
            <a:ext cx="45720" cy="329184"/>
          </a:xfrm>
          <a:prstGeom prst="rect">
            <a:avLst/>
          </a:prstGeom>
          <a:solidFill>
            <a:srgbClr val="8A9A6A"/>
          </a:solidFill>
          <a:ln w="12700">
            <a:solidFill>
              <a:srgbClr val="8A9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82296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El costo oculto de crecer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sin estructura humana.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2606040" cy="2606040"/>
          </a:xfrm>
          <a:prstGeom prst="rect">
            <a:avLst/>
          </a:prstGeom>
          <a:solidFill>
            <a:srgbClr val="EDEAE2"/>
          </a:solidFill>
          <a:ln w="6350">
            <a:solidFill>
              <a:srgbClr val="C8C4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05740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" y="2487168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Tiempo directivo perdido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880360"/>
            <a:ext cx="233172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78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Cuando no hay quien tome las riendas de RRHH, son los líderes quienes terminan respondiendo consultas, apagando fuegos y perdiendo foco en lo que importa.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1920240"/>
            <a:ext cx="2606040" cy="2606040"/>
          </a:xfrm>
          <a:prstGeom prst="rect">
            <a:avLst/>
          </a:prstGeom>
          <a:solidFill>
            <a:srgbClr val="EDEAE2"/>
          </a:solidFill>
          <a:ln w="6350">
            <a:solidFill>
              <a:srgbClr val="C8C4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05740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83280" y="2487168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Ingresos sin proceso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880360"/>
            <a:ext cx="233172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78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Cada incorporación nueva se resuelve sobre la marcha. Sin un proceso claro, las personas tardan más en arrancar — y algunas se van antes de los 90 días.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1920240"/>
            <a:ext cx="2606040" cy="2606040"/>
          </a:xfrm>
          <a:prstGeom prst="rect">
            <a:avLst/>
          </a:prstGeom>
          <a:solidFill>
            <a:srgbClr val="EDEAE2"/>
          </a:solidFill>
          <a:ln w="6350">
            <a:solidFill>
              <a:srgbClr val="C8C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05740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72200" y="2487168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Roles sin definición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880360"/>
            <a:ext cx="233172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78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Cuando los roles no están bien definidos, cada uno asume lo que puede. El equipo crece, pero sin una base sólida que lo sostenga.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430413" y="191110"/>
            <a:ext cx="179223" cy="115214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09637" y="191110"/>
            <a:ext cx="140818" cy="160020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30414" y="306324"/>
            <a:ext cx="320040" cy="44806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406" y="274320"/>
            <a:ext cx="64008" cy="64008"/>
          </a:xfrm>
          <a:prstGeom prst="ellipse">
            <a:avLst/>
          </a:prstGeom>
          <a:solidFill>
            <a:srgbClr val="4A4A45"/>
          </a:solidFill>
        </p:spPr>
      </p:sp>
      <p:sp>
        <p:nvSpPr>
          <p:cNvPr id="6" name="Shape 4"/>
          <p:cNvSpPr/>
          <p:nvPr/>
        </p:nvSpPr>
        <p:spPr>
          <a:xfrm>
            <a:off x="7577633" y="159106"/>
            <a:ext cx="64008" cy="64008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7" name="Shape 5"/>
          <p:cNvSpPr/>
          <p:nvPr/>
        </p:nvSpPr>
        <p:spPr>
          <a:xfrm>
            <a:off x="7712050" y="319126"/>
            <a:ext cx="57607" cy="57607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8" name="Text 6"/>
          <p:cNvSpPr/>
          <p:nvPr/>
        </p:nvSpPr>
        <p:spPr>
          <a:xfrm>
            <a:off x="7754112" y="1554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NODO </a:t>
            </a:r>
            <a:r>
              <a:rPr lang="en-US" sz="1100" kern="0" spc="1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HUMA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530352"/>
            <a:ext cx="45720" cy="329184"/>
          </a:xfrm>
          <a:prstGeom prst="rect">
            <a:avLst/>
          </a:prstGeom>
          <a:solidFill>
            <a:srgbClr val="8A9A6A"/>
          </a:solidFill>
          <a:ln w="12700">
            <a:solidFill>
              <a:srgbClr val="8A9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303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VALOR DE LA ESTRATEGIA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ARQUITECTURA CON PROPÓSITO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325880"/>
            <a:ext cx="438912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>
                <a:sym typeface="+mn-ea"/>
              </a:rPr>
              <a:t>Las organizaciones no crecen únicamente incorporando personas. Crecen cuando cuentan con procesos claros, roles definidos y líderes que pueden enfocarse en dirigir.</a:t>
            </a:r>
          </a:p>
          <a:p>
            <a:pPr marL="0" indent="0">
              <a:buNone/>
            </a:pPr>
            <a:endParaRPr lang="en-US" sz="1300" dirty="0">
              <a:solidFill>
                <a:srgbClr val="4A4A45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  <a:p>
            <a:pPr marL="0" indent="0">
              <a:buNone/>
            </a:pPr>
            <a:r>
              <a:rPr sz="1300">
                <a:sym typeface="+mn-ea"/>
              </a:rPr>
              <a:t>Cuando la gestión de personas deja de depender de la improvisación, la empresa gana tiempo, claridad y capacidad</a:t>
            </a:r>
            <a:r>
              <a:rPr lang="en-US" sz="13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3017520"/>
            <a:ext cx="1143000" cy="0"/>
          </a:xfrm>
          <a:prstGeom prst="line">
            <a:avLst/>
          </a:prstGeom>
          <a:noFill/>
          <a:ln w="19050">
            <a:solidFill>
              <a:srgbClr val="2E33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86600" y="1188720"/>
            <a:ext cx="1143000" cy="1828800"/>
          </a:xfrm>
          <a:prstGeom prst="line">
            <a:avLst/>
          </a:prstGeom>
          <a:noFill/>
          <a:ln w="19050">
            <a:solidFill>
              <a:srgbClr val="2E33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3017520"/>
            <a:ext cx="2286000" cy="0"/>
          </a:xfrm>
          <a:prstGeom prst="line">
            <a:avLst/>
          </a:prstGeom>
          <a:noFill/>
          <a:ln w="19050">
            <a:solidFill>
              <a:srgbClr val="2E33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04304" y="1115568"/>
            <a:ext cx="164592" cy="164592"/>
          </a:xfrm>
          <a:prstGeom prst="ellipse">
            <a:avLst/>
          </a:prstGeom>
          <a:solidFill>
            <a:srgbClr val="2E3330"/>
          </a:solidFill>
        </p:spPr>
      </p:sp>
      <p:sp>
        <p:nvSpPr>
          <p:cNvPr id="17" name="Shape 15"/>
          <p:cNvSpPr/>
          <p:nvPr/>
        </p:nvSpPr>
        <p:spPr>
          <a:xfrm>
            <a:off x="5861304" y="2944368"/>
            <a:ext cx="164592" cy="164592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18" name="Shape 16"/>
          <p:cNvSpPr/>
          <p:nvPr/>
        </p:nvSpPr>
        <p:spPr>
          <a:xfrm>
            <a:off x="8147304" y="2944368"/>
            <a:ext cx="164592" cy="164592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19" name="Shape 17"/>
          <p:cNvSpPr/>
          <p:nvPr/>
        </p:nvSpPr>
        <p:spPr>
          <a:xfrm>
            <a:off x="5897880" y="1005840"/>
            <a:ext cx="2423160" cy="2423160"/>
          </a:xfrm>
          <a:prstGeom prst="ellipse">
            <a:avLst/>
          </a:prstGeom>
          <a:ln w="12700">
            <a:solidFill>
              <a:srgbClr val="C8C4B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720840" y="804672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PERSONAS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4920" y="3246120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PROCESOS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73568" y="3246120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ESTRUCTURA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430413" y="191110"/>
            <a:ext cx="179223" cy="115214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09637" y="191110"/>
            <a:ext cx="140818" cy="160020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30414" y="306324"/>
            <a:ext cx="320040" cy="44806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406" y="274320"/>
            <a:ext cx="64008" cy="64008"/>
          </a:xfrm>
          <a:prstGeom prst="ellipse">
            <a:avLst/>
          </a:prstGeom>
          <a:solidFill>
            <a:srgbClr val="4A4A45"/>
          </a:solidFill>
        </p:spPr>
      </p:sp>
      <p:sp>
        <p:nvSpPr>
          <p:cNvPr id="6" name="Shape 4"/>
          <p:cNvSpPr/>
          <p:nvPr/>
        </p:nvSpPr>
        <p:spPr>
          <a:xfrm>
            <a:off x="7577633" y="159106"/>
            <a:ext cx="64008" cy="64008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7" name="Shape 5"/>
          <p:cNvSpPr/>
          <p:nvPr/>
        </p:nvSpPr>
        <p:spPr>
          <a:xfrm>
            <a:off x="7712050" y="319126"/>
            <a:ext cx="57607" cy="57607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8" name="Text 6"/>
          <p:cNvSpPr/>
          <p:nvPr/>
        </p:nvSpPr>
        <p:spPr>
          <a:xfrm>
            <a:off x="7754112" y="1554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NODO </a:t>
            </a:r>
            <a:r>
              <a:rPr lang="en-US" sz="1100" kern="0" spc="1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HUMA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502920"/>
            <a:ext cx="45720" cy="329184"/>
          </a:xfrm>
          <a:prstGeom prst="rect">
            <a:avLst/>
          </a:prstGeom>
          <a:solidFill>
            <a:srgbClr val="8A9A6A"/>
          </a:solidFill>
          <a:ln w="12700">
            <a:solidFill>
              <a:srgbClr val="8A9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029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3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ECOSISTEMA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" y="1005840"/>
            <a:ext cx="4114800" cy="1600200"/>
          </a:xfrm>
          <a:prstGeom prst="rect">
            <a:avLst/>
          </a:prstGeom>
          <a:ln w="10160">
            <a:solidFill>
              <a:srgbClr val="C8C4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17043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01. </a:t>
            </a:r>
            <a:r>
              <a:rPr lang="en-US" sz="1100" kern="0" spc="100" dirty="0" smtClean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TALENT ACQUISITION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1508760"/>
            <a:ext cx="374904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sym typeface="+mn-ea"/>
              </a:rPr>
              <a:t>Búsqueda y selección de perfiles administrativos, operativos y mandos medios. Relevamiento, entrevistas, presentación de candidatos y acompañamiento del proceso.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14800" cy="1600200"/>
          </a:xfrm>
          <a:prstGeom prst="rect">
            <a:avLst/>
          </a:prstGeom>
          <a:ln w="10160">
            <a:solidFill>
              <a:srgbClr val="C8C4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17043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100" kern="0" spc="1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02. ONBOARDING &amp; </a:t>
            </a:r>
            <a:r>
              <a:rPr lang="en-US" sz="1100" kern="0" spc="100" dirty="0" smtClean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508760"/>
            <a:ext cx="374904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200">
                <a:sym typeface="+mn-ea"/>
              </a:rPr>
              <a:t>Diseño de experiencias de ingreso que aceleran la adaptación, reducen la incertidumbre y mejoran la integración de cada incorporación.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114800" cy="1600200"/>
          </a:xfrm>
          <a:prstGeom prst="rect">
            <a:avLst/>
          </a:prstGeom>
          <a:ln w="10160">
            <a:solidFill>
              <a:srgbClr val="C8C4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99923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03. PEOPLE OPERATIONS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337560"/>
            <a:ext cx="374904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ym typeface="+mn-ea"/>
              </a:rPr>
              <a:t>Acompañamiento continuo para líderes y equipos. Gestión documental, seguimiento de clima, soporte operativo y asesoramiento permanente.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114800" cy="1600200"/>
          </a:xfrm>
          <a:prstGeom prst="rect">
            <a:avLst/>
          </a:prstGeom>
          <a:ln w="10160">
            <a:solidFill>
              <a:srgbClr val="C8C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99923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04. ORGANIZACIÓN Y PROCESOS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3337560"/>
            <a:ext cx="374904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ym typeface="+mn-ea"/>
              </a:rPr>
              <a:t>Descripciones de puesto, organigramas, definición de responsabilidades y procesos internos que acompañan el crecimiento de la organización.</a:t>
            </a:r>
            <a:endParaRPr lang="en-US" sz="1200" dirty="0"/>
          </a:p>
        </p:txBody>
      </p:sp>
      <p:sp>
        <p:nvSpPr>
          <p:cNvPr id="23" name="Cuadro de texto 22"/>
          <p:cNvSpPr txBox="1"/>
          <p:nvPr/>
        </p:nvSpPr>
        <p:spPr>
          <a:xfrm>
            <a:off x="3607435" y="347599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430413" y="191110"/>
            <a:ext cx="179223" cy="115214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09637" y="191110"/>
            <a:ext cx="140818" cy="160020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30414" y="306324"/>
            <a:ext cx="320040" cy="44806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406" y="274320"/>
            <a:ext cx="64008" cy="64008"/>
          </a:xfrm>
          <a:prstGeom prst="ellipse">
            <a:avLst/>
          </a:prstGeom>
          <a:solidFill>
            <a:srgbClr val="4A4A45"/>
          </a:solidFill>
        </p:spPr>
      </p:sp>
      <p:sp>
        <p:nvSpPr>
          <p:cNvPr id="6" name="Shape 4"/>
          <p:cNvSpPr/>
          <p:nvPr/>
        </p:nvSpPr>
        <p:spPr>
          <a:xfrm>
            <a:off x="7577633" y="159106"/>
            <a:ext cx="64008" cy="64008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7" name="Shape 5"/>
          <p:cNvSpPr/>
          <p:nvPr/>
        </p:nvSpPr>
        <p:spPr>
          <a:xfrm>
            <a:off x="7712050" y="319126"/>
            <a:ext cx="57607" cy="57607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8" name="Text 6"/>
          <p:cNvSpPr/>
          <p:nvPr/>
        </p:nvSpPr>
        <p:spPr>
          <a:xfrm>
            <a:off x="7754112" y="1554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NODO </a:t>
            </a:r>
            <a:r>
              <a:rPr lang="en-US" sz="1100" kern="0" spc="1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HUMA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502920"/>
            <a:ext cx="45720" cy="329184"/>
          </a:xfrm>
          <a:prstGeom prst="rect">
            <a:avLst/>
          </a:prstGeom>
          <a:solidFill>
            <a:srgbClr val="8A9A6A"/>
          </a:solidFill>
          <a:ln w="12700">
            <a:solidFill>
              <a:srgbClr val="8A9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02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3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TALENT &amp; ONBOARDING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1188720"/>
            <a:ext cx="2011680" cy="2011680"/>
          </a:xfrm>
          <a:prstGeom prst="ellipse">
            <a:avLst/>
          </a:prstGeom>
          <a:ln w="12700">
            <a:solidFill>
              <a:srgbClr val="C8C4B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325880" y="1417320"/>
            <a:ext cx="164592" cy="164592"/>
          </a:xfrm>
          <a:prstGeom prst="ellipse">
            <a:avLst/>
          </a:prstGeom>
          <a:solidFill>
            <a:srgbClr val="2E3330"/>
          </a:solidFill>
        </p:spPr>
      </p:sp>
      <p:sp>
        <p:nvSpPr>
          <p:cNvPr id="13" name="Shape 11"/>
          <p:cNvSpPr/>
          <p:nvPr/>
        </p:nvSpPr>
        <p:spPr>
          <a:xfrm>
            <a:off x="914400" y="2761488"/>
            <a:ext cx="146304" cy="146304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14" name="Shape 12"/>
          <p:cNvSpPr/>
          <p:nvPr/>
        </p:nvSpPr>
        <p:spPr>
          <a:xfrm>
            <a:off x="996696" y="1499616"/>
            <a:ext cx="137160" cy="457200"/>
          </a:xfrm>
          <a:prstGeom prst="line">
            <a:avLst/>
          </a:prstGeom>
          <a:noFill/>
          <a:ln w="19050">
            <a:solidFill>
              <a:srgbClr val="2E33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0972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kern="0" spc="3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TALENT </a:t>
            </a:r>
            <a:r>
              <a:rPr lang="en-US" sz="1000" kern="0" spc="300" dirty="0" smtClean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ACQUISITION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82950" y="1758950"/>
            <a:ext cx="4625340" cy="76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300">
                <a:sym typeface="+mn-ea"/>
              </a:rPr>
              <a:t>Identificamos el talento que la organización necesita para sostener su operación y acompañar su crecimiento.</a:t>
            </a:r>
            <a:r>
              <a:rPr lang="es-AR" sz="1300">
                <a:sym typeface="+mn-ea"/>
              </a:rPr>
              <a:t> </a:t>
            </a:r>
            <a:r>
              <a:rPr sz="1300">
                <a:sym typeface="+mn-ea"/>
              </a:rPr>
              <a:t>Relevamiento del perfil</a:t>
            </a:r>
            <a:r>
              <a:rPr lang="es-AR" sz="1300">
                <a:sym typeface="+mn-ea"/>
              </a:rPr>
              <a:t>, p</a:t>
            </a:r>
            <a:r>
              <a:rPr sz="1300">
                <a:sym typeface="+mn-ea"/>
              </a:rPr>
              <a:t>ublicación y búsqueda</a:t>
            </a:r>
            <a:r>
              <a:rPr lang="es-AR" sz="1300">
                <a:sym typeface="+mn-ea"/>
              </a:rPr>
              <a:t>, e</a:t>
            </a:r>
            <a:r>
              <a:rPr sz="1300">
                <a:sym typeface="+mn-ea"/>
              </a:rPr>
              <a:t>ntrevista</a:t>
            </a:r>
            <a:r>
              <a:rPr lang="es-AR" sz="1300">
                <a:sym typeface="+mn-ea"/>
              </a:rPr>
              <a:t>s, p</a:t>
            </a:r>
            <a:r>
              <a:rPr sz="1300">
                <a:sym typeface="+mn-ea"/>
              </a:rPr>
              <a:t>resentación de candidatos</a:t>
            </a:r>
            <a:r>
              <a:rPr lang="es-AR" sz="1300">
                <a:sym typeface="+mn-ea"/>
              </a:rPr>
              <a:t> y g</a:t>
            </a:r>
            <a:r>
              <a:rPr sz="1300">
                <a:sym typeface="+mn-ea"/>
              </a:rPr>
              <a:t>arantía de reemplazo</a:t>
            </a:r>
            <a:r>
              <a:rPr lang="es-AR" sz="1300">
                <a:sym typeface="+mn-ea"/>
              </a:rPr>
              <a:t>.</a:t>
            </a:r>
            <a:endParaRPr lang="es-AR" sz="1300" dirty="0">
              <a:sym typeface="+mn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108960" y="2331720"/>
            <a:ext cx="5394960" cy="9144"/>
          </a:xfrm>
          <a:prstGeom prst="rect">
            <a:avLst/>
          </a:prstGeom>
          <a:solidFill>
            <a:srgbClr val="C8C4BC"/>
          </a:solidFill>
          <a:ln w="12700">
            <a:solidFill>
              <a:srgbClr val="C8C4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2304288"/>
            <a:ext cx="36576" cy="1737360"/>
          </a:xfrm>
          <a:prstGeom prst="rect">
            <a:avLst/>
          </a:prstGeom>
          <a:solidFill>
            <a:srgbClr val="8A9A6A"/>
          </a:solidFill>
          <a:ln w="12700">
            <a:solidFill>
              <a:srgbClr val="8A9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487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kern="0" spc="3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POTENCIAR DESDE EL </a:t>
            </a:r>
            <a:r>
              <a:rPr lang="en-US" sz="1000" kern="0" spc="300" dirty="0" smtClean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INGRESO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913380"/>
            <a:ext cx="5349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300">
                <a:sym typeface="+mn-ea"/>
              </a:rPr>
              <a:t>Diseñamos procesos de ingreso que ayudan a cada persona a integrarse más rápido y con mayor claridad.</a:t>
            </a:r>
          </a:p>
          <a:p>
            <a:endParaRPr sz="1300">
              <a:sym typeface="+mn-ea"/>
            </a:endParaRPr>
          </a:p>
          <a:p>
            <a:r>
              <a:rPr sz="1300">
                <a:sym typeface="+mn-ea"/>
              </a:rPr>
              <a:t>Plan de onboarding</a:t>
            </a:r>
            <a:r>
              <a:rPr lang="es-AR" sz="1300">
                <a:sym typeface="+mn-ea"/>
              </a:rPr>
              <a:t>, s</a:t>
            </a:r>
            <a:r>
              <a:rPr sz="1300">
                <a:sym typeface="+mn-ea"/>
              </a:rPr>
              <a:t>eguimiento inicial</a:t>
            </a:r>
            <a:r>
              <a:rPr lang="es-AR" sz="1300">
                <a:sym typeface="+mn-ea"/>
              </a:rPr>
              <a:t>, c</a:t>
            </a:r>
            <a:r>
              <a:rPr sz="1300">
                <a:sym typeface="+mn-ea"/>
              </a:rPr>
              <a:t>oordinación con líderes</a:t>
            </a:r>
            <a:r>
              <a:rPr lang="es-AR" sz="1300">
                <a:sym typeface="+mn-ea"/>
              </a:rPr>
              <a:t> y d</a:t>
            </a:r>
            <a:r>
              <a:rPr sz="1300">
                <a:sym typeface="+mn-ea"/>
              </a:rPr>
              <a:t>ocumentación de ingreso</a:t>
            </a:r>
            <a:r>
              <a:rPr lang="es-AR" sz="1300">
                <a:sym typeface="+mn-ea"/>
              </a:rPr>
              <a:t>.</a:t>
            </a:r>
            <a:endParaRPr lang="es-AR" sz="1300" dirty="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430413" y="217170"/>
            <a:ext cx="179224" cy="89154"/>
          </a:xfrm>
          <a:prstGeom prst="line">
            <a:avLst/>
          </a:prstGeom>
          <a:noFill/>
          <a:ln w="15240">
            <a:solidFill>
              <a:srgbClr val="F0ED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09637" y="191110"/>
            <a:ext cx="140818" cy="160020"/>
          </a:xfrm>
          <a:prstGeom prst="line">
            <a:avLst/>
          </a:prstGeom>
          <a:noFill/>
          <a:ln w="15240">
            <a:solidFill>
              <a:srgbClr val="F0ED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30414" y="306324"/>
            <a:ext cx="320040" cy="44806"/>
          </a:xfrm>
          <a:prstGeom prst="line">
            <a:avLst/>
          </a:prstGeom>
          <a:noFill/>
          <a:ln w="15240">
            <a:solidFill>
              <a:srgbClr val="F0E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406" y="274320"/>
            <a:ext cx="76810" cy="76810"/>
          </a:xfrm>
          <a:prstGeom prst="ellipse">
            <a:avLst/>
          </a:prstGeom>
          <a:solidFill>
            <a:srgbClr val="F0EDE6"/>
          </a:solidFill>
        </p:spPr>
      </p:sp>
      <p:sp>
        <p:nvSpPr>
          <p:cNvPr id="6" name="Shape 4"/>
          <p:cNvSpPr/>
          <p:nvPr/>
        </p:nvSpPr>
        <p:spPr>
          <a:xfrm>
            <a:off x="7577633" y="159106"/>
            <a:ext cx="76810" cy="76810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7" name="Shape 5"/>
          <p:cNvSpPr/>
          <p:nvPr/>
        </p:nvSpPr>
        <p:spPr>
          <a:xfrm>
            <a:off x="7712050" y="319126"/>
            <a:ext cx="64008" cy="64008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8" name="Text 6"/>
          <p:cNvSpPr/>
          <p:nvPr/>
        </p:nvSpPr>
        <p:spPr>
          <a:xfrm>
            <a:off x="7754112" y="1554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EDE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NODO </a:t>
            </a:r>
            <a:r>
              <a:rPr lang="en-US" sz="1100" kern="0" spc="1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HUMA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300" dirty="0">
                <a:solidFill>
                  <a:srgbClr val="F0EDE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PEOPLE OPERATIONS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3886200" y="1874520"/>
            <a:ext cx="1371600" cy="22860"/>
          </a:xfrm>
          <a:prstGeom prst="rect">
            <a:avLst/>
          </a:prstGeom>
          <a:solidFill>
            <a:srgbClr val="8A9A6A"/>
          </a:solidFill>
          <a:ln w="12700">
            <a:solidFill>
              <a:srgbClr val="8A9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011680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Tu área de </a:t>
            </a:r>
            <a:r>
              <a:rPr lang="en-US" sz="1600" i="1" dirty="0" smtClean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RRHH.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542032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s-MX" sz="1400" dirty="0" smtClean="0">
                <a:solidFill>
                  <a:srgbClr val="F0EDE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Acá </a:t>
            </a:r>
            <a:r>
              <a:rPr lang="es-MX" sz="1400" dirty="0">
                <a:solidFill>
                  <a:srgbClr val="F0EDE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nos hacemos cargo de la gestión diaria de personas: desde el seguimiento del clima del equipo y el orden de los legajos hasta la resolución de lo que aparece en el día a día. Cuidamos lo que pasa adentro para que tu organización pueda seguir creciendo con tranquilidad.</a:t>
            </a:r>
            <a:endParaRPr lang="en-US" sz="1400" dirty="0">
              <a:solidFill>
                <a:srgbClr val="F0EDE6"/>
              </a:solidFill>
              <a:latin typeface="Trebuchet MS" panose="020B0603020202020204" pitchFamily="34" charset="0"/>
              <a:ea typeface="Trebuchet MS" panose="020B0603020202020204" pitchFamily="34" charset="-122"/>
              <a:cs typeface="Trebuchet MS" panose="020B060302020202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430413" y="201168"/>
            <a:ext cx="179223" cy="105156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09637" y="191110"/>
            <a:ext cx="140818" cy="160020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30414" y="306324"/>
            <a:ext cx="320040" cy="44806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406" y="274320"/>
            <a:ext cx="64008" cy="64008"/>
          </a:xfrm>
          <a:prstGeom prst="ellipse">
            <a:avLst/>
          </a:prstGeom>
          <a:solidFill>
            <a:srgbClr val="4A4A45"/>
          </a:solidFill>
        </p:spPr>
      </p:sp>
      <p:sp>
        <p:nvSpPr>
          <p:cNvPr id="6" name="Shape 4"/>
          <p:cNvSpPr/>
          <p:nvPr/>
        </p:nvSpPr>
        <p:spPr>
          <a:xfrm>
            <a:off x="7577633" y="159106"/>
            <a:ext cx="64008" cy="64008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7" name="Shape 5"/>
          <p:cNvSpPr/>
          <p:nvPr/>
        </p:nvSpPr>
        <p:spPr>
          <a:xfrm>
            <a:off x="7712050" y="319126"/>
            <a:ext cx="57607" cy="57607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8" name="Text 6"/>
          <p:cNvSpPr/>
          <p:nvPr/>
        </p:nvSpPr>
        <p:spPr>
          <a:xfrm>
            <a:off x="7754112" y="1554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NODO </a:t>
            </a:r>
            <a:r>
              <a:rPr lang="en-US" sz="1100" kern="0" spc="1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HUMA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502920"/>
            <a:ext cx="45720" cy="329184"/>
          </a:xfrm>
          <a:prstGeom prst="rect">
            <a:avLst/>
          </a:prstGeom>
          <a:solidFill>
            <a:srgbClr val="8A9A6A"/>
          </a:solidFill>
          <a:ln w="12700">
            <a:solidFill>
              <a:srgbClr val="8A9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02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3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VECTOR DE EVOLUCIÓN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1965960" cy="54864"/>
          </a:xfrm>
          <a:prstGeom prst="rect">
            <a:avLst/>
          </a:prstGeom>
          <a:solidFill>
            <a:srgbClr val="8A9A6A"/>
          </a:solidFill>
          <a:ln w="12700">
            <a:solidFill>
              <a:srgbClr val="8A9A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35024"/>
            <a:ext cx="1965960" cy="3200400"/>
          </a:xfrm>
          <a:prstGeom prst="rect">
            <a:avLst/>
          </a:prstGeom>
          <a:ln w="6350">
            <a:solidFill>
              <a:srgbClr val="C8C4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481328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" y="19385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DIAGNÓSTICO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2331720"/>
            <a:ext cx="17373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ym typeface="+mn-ea"/>
              </a:rPr>
              <a:t>Entendemos la situación actual de la organización y los objetivos del negocio.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1280160"/>
            <a:ext cx="1965960" cy="54864"/>
          </a:xfrm>
          <a:prstGeom prst="rect">
            <a:avLst/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1335024"/>
            <a:ext cx="1965960" cy="3200400"/>
          </a:xfrm>
          <a:prstGeom prst="rect">
            <a:avLst/>
          </a:prstGeom>
          <a:ln w="6350">
            <a:solidFill>
              <a:srgbClr val="C8C4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1481328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24328" y="19385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DISEÑO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24328" y="2331720"/>
            <a:ext cx="17373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ym typeface="+mn-ea"/>
              </a:rPr>
              <a:t>Definimos prioridades, estructura y procesos según las necesidades detectadas.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280160"/>
            <a:ext cx="1965960" cy="54864"/>
          </a:xfrm>
          <a:prstGeom prst="rect">
            <a:avLst/>
          </a:prstGeom>
          <a:solidFill>
            <a:srgbClr val="8A9A6A"/>
          </a:solidFill>
          <a:ln w="12700">
            <a:solidFill>
              <a:srgbClr val="8A9A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335024"/>
            <a:ext cx="1965960" cy="3200400"/>
          </a:xfrm>
          <a:prstGeom prst="rect">
            <a:avLst/>
          </a:prstGeom>
          <a:ln w="6350">
            <a:solidFill>
              <a:srgbClr val="C8C4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481328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73168" y="19385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INTEGRACIÓN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73168" y="2331720"/>
            <a:ext cx="17373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ym typeface="+mn-ea"/>
              </a:rPr>
              <a:t>Ponemos en marcha las acciones acordadas y acompañamos a los equipos durante la adaptación.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1280160"/>
            <a:ext cx="1965960" cy="54864"/>
          </a:xfrm>
          <a:prstGeom prst="rect">
            <a:avLst/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1335024"/>
            <a:ext cx="1965960" cy="3200400"/>
          </a:xfrm>
          <a:prstGeom prst="rect">
            <a:avLst/>
          </a:prstGeom>
          <a:ln w="6350">
            <a:solidFill>
              <a:srgbClr val="C8C4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1481328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22008" y="19385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EVOLUCIÓN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22008" y="2331720"/>
            <a:ext cx="17373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ym typeface="+mn-ea"/>
              </a:rPr>
              <a:t>Realizamos seguimiento, ajustes y mejoras para sostener el crecimiento en el tiempo.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430414" y="191110"/>
            <a:ext cx="175566" cy="115214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09637" y="191110"/>
            <a:ext cx="140818" cy="160020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30414" y="306324"/>
            <a:ext cx="320040" cy="44806"/>
          </a:xfrm>
          <a:prstGeom prst="line">
            <a:avLst/>
          </a:prstGeom>
          <a:noFill/>
          <a:ln w="12700">
            <a:solidFill>
              <a:srgbClr val="4A4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406" y="274320"/>
            <a:ext cx="64008" cy="64008"/>
          </a:xfrm>
          <a:prstGeom prst="ellipse">
            <a:avLst/>
          </a:prstGeom>
          <a:solidFill>
            <a:srgbClr val="4A4A45"/>
          </a:solidFill>
        </p:spPr>
      </p:sp>
      <p:sp>
        <p:nvSpPr>
          <p:cNvPr id="6" name="Shape 4"/>
          <p:cNvSpPr/>
          <p:nvPr/>
        </p:nvSpPr>
        <p:spPr>
          <a:xfrm>
            <a:off x="7577633" y="159106"/>
            <a:ext cx="64008" cy="64008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7" name="Shape 5"/>
          <p:cNvSpPr/>
          <p:nvPr/>
        </p:nvSpPr>
        <p:spPr>
          <a:xfrm>
            <a:off x="7712050" y="319126"/>
            <a:ext cx="57607" cy="57607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8" name="Text 6"/>
          <p:cNvSpPr/>
          <p:nvPr/>
        </p:nvSpPr>
        <p:spPr>
          <a:xfrm>
            <a:off x="7754112" y="1554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NODO </a:t>
            </a:r>
            <a:r>
              <a:rPr lang="en-US" sz="1100" kern="0" spc="1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HUMA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502920"/>
            <a:ext cx="45720" cy="329184"/>
          </a:xfrm>
          <a:prstGeom prst="rect">
            <a:avLst/>
          </a:prstGeom>
          <a:solidFill>
            <a:srgbClr val="8A9A6A"/>
          </a:solidFill>
          <a:ln w="12700">
            <a:solidFill>
              <a:srgbClr val="8A9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02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300" dirty="0">
                <a:solidFill>
                  <a:srgbClr val="4A4A4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IMPACTO ORGANIZACIONAL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41148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FOCO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208483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ym typeface="+mn-ea"/>
              </a:rPr>
              <a:t>Más tiempo para liderar y enfocarse en el negocio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371600"/>
            <a:ext cx="41148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2E333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SOLIDEZ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754880" y="208483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ym typeface="+mn-ea"/>
              </a:rPr>
              <a:t>Procesos claros para acompañar el crecimiento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41148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ALINEACIÓN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57200" y="382219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ym typeface="+mn-ea"/>
              </a:rPr>
              <a:t>Equipos, roles y cultura trabajando en la misma dirección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41148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2E333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PREVISIBILIDAD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754880" y="382219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ym typeface="+mn-ea"/>
              </a:rPr>
              <a:t>Gestión de personas con</a:t>
            </a:r>
            <a:r>
              <a:rPr lang="es-AR" sz="1200">
                <a:sym typeface="+mn-ea"/>
              </a:rPr>
              <a:t>cretas, más confiable y menos improvisada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300" dirty="0" smtClean="0">
                <a:solidFill>
                  <a:srgbClr val="F0EDE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POTENCIAMOS TU ESTRUCTURA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886200" y="2860990"/>
            <a:ext cx="1371600" cy="22860"/>
          </a:xfrm>
          <a:prstGeom prst="rect">
            <a:avLst/>
          </a:prstGeom>
          <a:solidFill>
            <a:srgbClr val="8A9A6A"/>
          </a:solidFill>
          <a:ln w="12700">
            <a:solidFill>
              <a:srgbClr val="8A9A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02854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A9A6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NODO HUMA  |  DONDE EL TALENTO Y LA ORGANIZACIÓN SE ENCUENTRAN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8240573" y="4381500"/>
            <a:ext cx="230429" cy="121920"/>
          </a:xfrm>
          <a:prstGeom prst="line">
            <a:avLst/>
          </a:prstGeom>
          <a:noFill/>
          <a:ln w="15240">
            <a:solidFill>
              <a:srgbClr val="F0ED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71002" y="4355287"/>
            <a:ext cx="181051" cy="205740"/>
          </a:xfrm>
          <a:prstGeom prst="line">
            <a:avLst/>
          </a:prstGeom>
          <a:noFill/>
          <a:ln w="15240">
            <a:solidFill>
              <a:srgbClr val="F0ED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0573" y="4503420"/>
            <a:ext cx="411480" cy="57607"/>
          </a:xfrm>
          <a:prstGeom prst="line">
            <a:avLst/>
          </a:prstGeom>
          <a:noFill/>
          <a:ln w="15240">
            <a:solidFill>
              <a:srgbClr val="F0ED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58277" y="4462272"/>
            <a:ext cx="98755" cy="98755"/>
          </a:xfrm>
          <a:prstGeom prst="ellipse">
            <a:avLst/>
          </a:prstGeom>
          <a:solidFill>
            <a:srgbClr val="F0EDE6"/>
          </a:solidFill>
        </p:spPr>
      </p:sp>
      <p:sp>
        <p:nvSpPr>
          <p:cNvPr id="9" name="Shape 7"/>
          <p:cNvSpPr/>
          <p:nvPr/>
        </p:nvSpPr>
        <p:spPr>
          <a:xfrm>
            <a:off x="8429854" y="4314139"/>
            <a:ext cx="98755" cy="98755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10" name="Shape 8"/>
          <p:cNvSpPr/>
          <p:nvPr/>
        </p:nvSpPr>
        <p:spPr>
          <a:xfrm>
            <a:off x="8602675" y="4519879"/>
            <a:ext cx="82296" cy="82296"/>
          </a:xfrm>
          <a:prstGeom prst="ellipse">
            <a:avLst/>
          </a:prstGeom>
          <a:solidFill>
            <a:srgbClr val="8A9A6A"/>
          </a:solidFill>
        </p:spPr>
      </p:sp>
      <p:sp>
        <p:nvSpPr>
          <p:cNvPr id="11" name="Text 0"/>
          <p:cNvSpPr/>
          <p:nvPr/>
        </p:nvSpPr>
        <p:spPr>
          <a:xfrm>
            <a:off x="455371" y="3417113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 smtClean="0">
                <a:solidFill>
                  <a:srgbClr val="F0EDE6"/>
                </a:solidFill>
                <a:latin typeface="Trebuchet MS" panose="020B0603020202020204" pitchFamily="34" charset="0"/>
              </a:rPr>
              <a:t>SOFIAIBARBORDE@GMAIL.COM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955</Words>
  <Application>Microsoft Office PowerPoint</Application>
  <PresentationFormat>Presentación en pantalla (16:9)</PresentationFormat>
  <Paragraphs>117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NODO HUMA — Pitch Deck</dc:title>
  <dc:subject>PptxGenJS Presentation</dc:subject>
  <dc:creator>PptxGenJS</dc:creator>
  <cp:lastModifiedBy>Sofia Ibarborde</cp:lastModifiedBy>
  <cp:revision>11</cp:revision>
  <dcterms:created xsi:type="dcterms:W3CDTF">2026-05-21T11:53:00Z</dcterms:created>
  <dcterms:modified xsi:type="dcterms:W3CDTF">2026-06-04T11:52:17Z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8BEC66172C88483EB771D26DF7CC8410_13</vt:lpwstr>
  </property>
  <property fmtid="{D5CDD505-2E9C-101B-9397-08002B2CF9AE}" pid="3" name="KSOProductBuildVer">
    <vt:lpwstr>2058-12.9.0.21549</vt:lpwstr>
  </property>
</Properties>
</file>